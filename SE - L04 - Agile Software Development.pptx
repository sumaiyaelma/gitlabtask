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4"/>
  </p:notesMasterIdLst>
  <p:sldIdLst>
    <p:sldId id="256" r:id="rId2"/>
    <p:sldId id="312" r:id="rId3"/>
    <p:sldId id="293" r:id="rId4"/>
    <p:sldId id="294" r:id="rId5"/>
    <p:sldId id="313" r:id="rId6"/>
    <p:sldId id="295" r:id="rId7"/>
    <p:sldId id="296" r:id="rId8"/>
    <p:sldId id="301" r:id="rId9"/>
    <p:sldId id="302" r:id="rId10"/>
    <p:sldId id="306" r:id="rId11"/>
    <p:sldId id="307" r:id="rId12"/>
    <p:sldId id="311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CF40A7-7BC1-4317-928B-AF96D1AD6DB3}" v="3" dt="2025-10-19T11:02:43.5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3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06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23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customXml" Target="../customXml/item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kat Baul" userId="dae859d7-ea3e-4a5d-83a1-d953f3940120" providerId="ADAL" clId="{D5D420DE-923A-48C3-8C9D-6EE2B77A9274}"/>
    <pc:docChg chg="custSel modSld">
      <pc:chgData name="Saikat Baul" userId="dae859d7-ea3e-4a5d-83a1-d953f3940120" providerId="ADAL" clId="{D5D420DE-923A-48C3-8C9D-6EE2B77A9274}" dt="2025-10-19T11:02:51.370" v="4" actId="1076"/>
      <pc:docMkLst>
        <pc:docMk/>
      </pc:docMkLst>
      <pc:sldChg chg="addSp delSp modSp mod">
        <pc:chgData name="Saikat Baul" userId="dae859d7-ea3e-4a5d-83a1-d953f3940120" providerId="ADAL" clId="{D5D420DE-923A-48C3-8C9D-6EE2B77A9274}" dt="2025-10-19T11:02:51.370" v="4" actId="1076"/>
        <pc:sldMkLst>
          <pc:docMk/>
          <pc:sldMk cId="2664565021" sldId="256"/>
        </pc:sldMkLst>
        <pc:spChg chg="del">
          <ac:chgData name="Saikat Baul" userId="dae859d7-ea3e-4a5d-83a1-d953f3940120" providerId="ADAL" clId="{D5D420DE-923A-48C3-8C9D-6EE2B77A9274}" dt="2025-10-19T11:00:21.395" v="0" actId="478"/>
          <ac:spMkLst>
            <pc:docMk/>
            <pc:sldMk cId="2664565021" sldId="256"/>
            <ac:spMk id="4" creationId="{6359B6BB-F860-CF3D-9656-9FC51B0FBE09}"/>
          </ac:spMkLst>
        </pc:spChg>
        <pc:spChg chg="mod">
          <ac:chgData name="Saikat Baul" userId="dae859d7-ea3e-4a5d-83a1-d953f3940120" providerId="ADAL" clId="{D5D420DE-923A-48C3-8C9D-6EE2B77A9274}" dt="2025-10-19T11:00:24.942" v="2"/>
          <ac:spMkLst>
            <pc:docMk/>
            <pc:sldMk cId="2664565021" sldId="256"/>
            <ac:spMk id="6" creationId="{68087D66-4FEA-1650-7F6A-C3AB12E94FBB}"/>
          </ac:spMkLst>
        </pc:spChg>
        <pc:spChg chg="del">
          <ac:chgData name="Saikat Baul" userId="dae859d7-ea3e-4a5d-83a1-d953f3940120" providerId="ADAL" clId="{D5D420DE-923A-48C3-8C9D-6EE2B77A9274}" dt="2025-10-19T11:00:21.395" v="0" actId="478"/>
          <ac:spMkLst>
            <pc:docMk/>
            <pc:sldMk cId="2664565021" sldId="256"/>
            <ac:spMk id="24" creationId="{C2082529-78D7-4EA7-BFF9-A1D1F62040C8}"/>
          </ac:spMkLst>
        </pc:spChg>
        <pc:grpChg chg="add mod">
          <ac:chgData name="Saikat Baul" userId="dae859d7-ea3e-4a5d-83a1-d953f3940120" providerId="ADAL" clId="{D5D420DE-923A-48C3-8C9D-6EE2B77A9274}" dt="2025-10-19T11:00:24.942" v="2"/>
          <ac:grpSpMkLst>
            <pc:docMk/>
            <pc:sldMk cId="2664565021" sldId="256"/>
            <ac:grpSpMk id="5" creationId="{9479290A-D19A-522A-007A-4BF6157DE616}"/>
          </ac:grpSpMkLst>
        </pc:grpChg>
        <pc:picChg chg="del">
          <ac:chgData name="Saikat Baul" userId="dae859d7-ea3e-4a5d-83a1-d953f3940120" providerId="ADAL" clId="{D5D420DE-923A-48C3-8C9D-6EE2B77A9274}" dt="2025-10-19T11:00:24.370" v="1" actId="478"/>
          <ac:picMkLst>
            <pc:docMk/>
            <pc:sldMk cId="2664565021" sldId="256"/>
            <ac:picMk id="2" creationId="{9DF9BBB9-7929-5616-2F29-917F7F01EB9A}"/>
          </ac:picMkLst>
        </pc:picChg>
        <pc:picChg chg="mod">
          <ac:chgData name="Saikat Baul" userId="dae859d7-ea3e-4a5d-83a1-d953f3940120" providerId="ADAL" clId="{D5D420DE-923A-48C3-8C9D-6EE2B77A9274}" dt="2025-10-19T11:00:24.942" v="2"/>
          <ac:picMkLst>
            <pc:docMk/>
            <pc:sldMk cId="2664565021" sldId="256"/>
            <ac:picMk id="7" creationId="{FA3550E9-9AD6-6BF7-5CFA-5C67DA8A2E5D}"/>
          </ac:picMkLst>
        </pc:picChg>
        <pc:cxnChg chg="add mod">
          <ac:chgData name="Saikat Baul" userId="dae859d7-ea3e-4a5d-83a1-d953f3940120" providerId="ADAL" clId="{D5D420DE-923A-48C3-8C9D-6EE2B77A9274}" dt="2025-10-19T11:02:51.370" v="4" actId="1076"/>
          <ac:cxnSpMkLst>
            <pc:docMk/>
            <pc:sldMk cId="2664565021" sldId="256"/>
            <ac:cxnSpMk id="2" creationId="{B176B064-18AC-FFB1-6FE3-DD03C60634A4}"/>
          </ac:cxnSpMkLst>
        </pc:cxnChg>
        <pc:cxnChg chg="del">
          <ac:chgData name="Saikat Baul" userId="dae859d7-ea3e-4a5d-83a1-d953f3940120" providerId="ADAL" clId="{D5D420DE-923A-48C3-8C9D-6EE2B77A9274}" dt="2025-10-19T11:00:21.395" v="0" actId="478"/>
          <ac:cxnSpMkLst>
            <pc:docMk/>
            <pc:sldMk cId="2664565021" sldId="256"/>
            <ac:cxnSpMk id="29" creationId="{E6E5F233-5F84-472A-B835-11475F02A795}"/>
          </ac:cxnSpMkLst>
        </pc:cxnChg>
      </pc:sldChg>
    </pc:docChg>
  </pc:docChgLst>
  <pc:docChgLst>
    <pc:chgData name="Saikat Baul" userId="dae859d7-ea3e-4a5d-83a1-d953f3940120" providerId="ADAL" clId="{8498978A-3D07-4CDA-A6FF-28AAFDDD6327}"/>
    <pc:docChg chg="modSld">
      <pc:chgData name="Saikat Baul" userId="dae859d7-ea3e-4a5d-83a1-d953f3940120" providerId="ADAL" clId="{8498978A-3D07-4CDA-A6FF-28AAFDDD6327}" dt="2025-03-15T07:36:36.096" v="15" actId="20577"/>
      <pc:docMkLst>
        <pc:docMk/>
      </pc:docMkLst>
      <pc:sldChg chg="modSp mod">
        <pc:chgData name="Saikat Baul" userId="dae859d7-ea3e-4a5d-83a1-d953f3940120" providerId="ADAL" clId="{8498978A-3D07-4CDA-A6FF-28AAFDDD6327}" dt="2025-03-15T07:36:36.096" v="15" actId="20577"/>
        <pc:sldMkLst>
          <pc:docMk/>
          <pc:sldMk cId="721621709" sldId="298"/>
        </pc:sldMkLst>
      </pc:sldChg>
    </pc:docChg>
  </pc:docChgLst>
  <pc:docChgLst>
    <pc:chgData name="Saikat Baul" userId="dae859d7-ea3e-4a5d-83a1-d953f3940120" providerId="ADAL" clId="{CAEF7DB1-8943-4AC1-8806-C24C468FC32B}"/>
    <pc:docChg chg="undo custSel modSld">
      <pc:chgData name="Saikat Baul" userId="dae859d7-ea3e-4a5d-83a1-d953f3940120" providerId="ADAL" clId="{CAEF7DB1-8943-4AC1-8806-C24C468FC32B}" dt="2025-03-01T08:38:58.499" v="50" actId="20577"/>
      <pc:docMkLst>
        <pc:docMk/>
      </pc:docMkLst>
      <pc:sldChg chg="delSp modSp mod">
        <pc:chgData name="Saikat Baul" userId="dae859d7-ea3e-4a5d-83a1-d953f3940120" providerId="ADAL" clId="{CAEF7DB1-8943-4AC1-8806-C24C468FC32B}" dt="2025-03-01T08:36:33.228" v="4" actId="1076"/>
        <pc:sldMkLst>
          <pc:docMk/>
          <pc:sldMk cId="2664565021" sldId="256"/>
        </pc:sldMkLst>
      </pc:sldChg>
      <pc:sldChg chg="modSp mod">
        <pc:chgData name="Saikat Baul" userId="dae859d7-ea3e-4a5d-83a1-d953f3940120" providerId="ADAL" clId="{CAEF7DB1-8943-4AC1-8806-C24C468FC32B}" dt="2025-03-01T08:38:58.499" v="50" actId="20577"/>
        <pc:sldMkLst>
          <pc:docMk/>
          <pc:sldMk cId="3411684674" sldId="293"/>
        </pc:sldMkLst>
      </pc:sldChg>
      <pc:sldChg chg="addSp delSp modSp mod">
        <pc:chgData name="Saikat Baul" userId="dae859d7-ea3e-4a5d-83a1-d953f3940120" providerId="ADAL" clId="{CAEF7DB1-8943-4AC1-8806-C24C468FC32B}" dt="2025-03-01T08:37:13.698" v="17"/>
        <pc:sldMkLst>
          <pc:docMk/>
          <pc:sldMk cId="291408106" sldId="294"/>
        </pc:sldMkLst>
      </pc:sldChg>
      <pc:sldChg chg="addSp delSp modSp mod">
        <pc:chgData name="Saikat Baul" userId="dae859d7-ea3e-4a5d-83a1-d953f3940120" providerId="ADAL" clId="{CAEF7DB1-8943-4AC1-8806-C24C468FC32B}" dt="2025-03-01T08:37:20.848" v="19"/>
        <pc:sldMkLst>
          <pc:docMk/>
          <pc:sldMk cId="3572633632" sldId="295"/>
        </pc:sldMkLst>
      </pc:sldChg>
      <pc:sldChg chg="addSp delSp modSp mod">
        <pc:chgData name="Saikat Baul" userId="dae859d7-ea3e-4a5d-83a1-d953f3940120" providerId="ADAL" clId="{CAEF7DB1-8943-4AC1-8806-C24C468FC32B}" dt="2025-03-01T08:37:28.598" v="21"/>
        <pc:sldMkLst>
          <pc:docMk/>
          <pc:sldMk cId="3180374787" sldId="296"/>
        </pc:sldMkLst>
      </pc:sldChg>
      <pc:sldChg chg="addSp delSp modSp mod">
        <pc:chgData name="Saikat Baul" userId="dae859d7-ea3e-4a5d-83a1-d953f3940120" providerId="ADAL" clId="{CAEF7DB1-8943-4AC1-8806-C24C468FC32B}" dt="2025-03-01T08:37:39.814" v="25"/>
        <pc:sldMkLst>
          <pc:docMk/>
          <pc:sldMk cId="721621709" sldId="298"/>
        </pc:sldMkLst>
      </pc:sldChg>
      <pc:sldChg chg="addSp delSp modSp mod">
        <pc:chgData name="Saikat Baul" userId="dae859d7-ea3e-4a5d-83a1-d953f3940120" providerId="ADAL" clId="{CAEF7DB1-8943-4AC1-8806-C24C468FC32B}" dt="2025-03-01T08:37:34.957" v="23"/>
        <pc:sldMkLst>
          <pc:docMk/>
          <pc:sldMk cId="1471183104" sldId="299"/>
        </pc:sldMkLst>
      </pc:sldChg>
      <pc:sldChg chg="addSp delSp modSp mod">
        <pc:chgData name="Saikat Baul" userId="dae859d7-ea3e-4a5d-83a1-d953f3940120" providerId="ADAL" clId="{CAEF7DB1-8943-4AC1-8806-C24C468FC32B}" dt="2025-03-01T08:37:44.980" v="27"/>
        <pc:sldMkLst>
          <pc:docMk/>
          <pc:sldMk cId="1434796336" sldId="300"/>
        </pc:sldMkLst>
      </pc:sldChg>
      <pc:sldChg chg="addSp delSp modSp mod">
        <pc:chgData name="Saikat Baul" userId="dae859d7-ea3e-4a5d-83a1-d953f3940120" providerId="ADAL" clId="{CAEF7DB1-8943-4AC1-8806-C24C468FC32B}" dt="2025-03-01T08:37:50.243" v="29"/>
        <pc:sldMkLst>
          <pc:docMk/>
          <pc:sldMk cId="3527609015" sldId="301"/>
        </pc:sldMkLst>
      </pc:sldChg>
      <pc:sldChg chg="addSp delSp modSp mod">
        <pc:chgData name="Saikat Baul" userId="dae859d7-ea3e-4a5d-83a1-d953f3940120" providerId="ADAL" clId="{CAEF7DB1-8943-4AC1-8806-C24C468FC32B}" dt="2025-03-01T08:37:57.298" v="31"/>
        <pc:sldMkLst>
          <pc:docMk/>
          <pc:sldMk cId="2493567879" sldId="302"/>
        </pc:sldMkLst>
      </pc:sldChg>
      <pc:sldChg chg="addSp delSp modSp mod">
        <pc:chgData name="Saikat Baul" userId="dae859d7-ea3e-4a5d-83a1-d953f3940120" providerId="ADAL" clId="{CAEF7DB1-8943-4AC1-8806-C24C468FC32B}" dt="2025-03-01T08:38:02.555" v="33"/>
        <pc:sldMkLst>
          <pc:docMk/>
          <pc:sldMk cId="278277641" sldId="304"/>
        </pc:sldMkLst>
      </pc:sldChg>
      <pc:sldChg chg="addSp delSp modSp mod">
        <pc:chgData name="Saikat Baul" userId="dae859d7-ea3e-4a5d-83a1-d953f3940120" providerId="ADAL" clId="{CAEF7DB1-8943-4AC1-8806-C24C468FC32B}" dt="2025-03-01T08:38:07.624" v="35"/>
        <pc:sldMkLst>
          <pc:docMk/>
          <pc:sldMk cId="3626468180" sldId="305"/>
        </pc:sldMkLst>
      </pc:sldChg>
      <pc:sldChg chg="addSp delSp modSp mod">
        <pc:chgData name="Saikat Baul" userId="dae859d7-ea3e-4a5d-83a1-d953f3940120" providerId="ADAL" clId="{CAEF7DB1-8943-4AC1-8806-C24C468FC32B}" dt="2025-03-01T08:38:12.896" v="37"/>
        <pc:sldMkLst>
          <pc:docMk/>
          <pc:sldMk cId="3234957445" sldId="306"/>
        </pc:sldMkLst>
      </pc:sldChg>
      <pc:sldChg chg="addSp delSp modSp mod">
        <pc:chgData name="Saikat Baul" userId="dae859d7-ea3e-4a5d-83a1-d953f3940120" providerId="ADAL" clId="{CAEF7DB1-8943-4AC1-8806-C24C468FC32B}" dt="2025-03-01T08:38:17.889" v="39"/>
        <pc:sldMkLst>
          <pc:docMk/>
          <pc:sldMk cId="665948692" sldId="307"/>
        </pc:sldMkLst>
      </pc:sldChg>
      <pc:sldChg chg="addSp modSp">
        <pc:chgData name="Saikat Baul" userId="dae859d7-ea3e-4a5d-83a1-d953f3940120" providerId="ADAL" clId="{CAEF7DB1-8943-4AC1-8806-C24C468FC32B}" dt="2025-03-01T08:38:21.505" v="40"/>
        <pc:sldMkLst>
          <pc:docMk/>
          <pc:sldMk cId="64039236" sldId="31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210FD6-79C5-4041-8E7A-89350618D070}" type="datetimeFigureOut">
              <a:rPr lang="en-GB" smtClean="0"/>
              <a:pPr/>
              <a:t>19/10/2025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6CA59-B645-4A00-A667-3A942CDB8E2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5805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505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FFDFDB9-D628-4A18-8BA7-33EF406917E6}" type="datetime1">
              <a:rPr lang="en-US" smtClean="0"/>
              <a:pPr/>
              <a:t>10/19/2025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DDB41-4229-47AF-BA03-C191A66FB94C}" type="datetime1">
              <a:rPr lang="en-US" smtClean="0"/>
              <a:pPr/>
              <a:t>10/19/2025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C08422A-3B8F-4FAB-94E1-75E89E1391CC}" type="datetime1">
              <a:rPr lang="en-US" smtClean="0"/>
              <a:pPr/>
              <a:t>10/19/2025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392D4-64E7-470C-9229-F729BA72710A}" type="datetime1">
              <a:rPr lang="en-US" smtClean="0"/>
              <a:pPr/>
              <a:t>10/19/2025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D79C-F41C-4E95-A4BE-2712B8C4A412}" type="datetime1">
              <a:rPr lang="en-US" smtClean="0"/>
              <a:pPr/>
              <a:t>10/19/2025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AE8F3-6A5D-412D-87FA-D951F64E80C1}" type="datetime1">
              <a:rPr lang="en-US" smtClean="0"/>
              <a:pPr/>
              <a:t>10/19/2025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F486A-D265-402A-B6CD-5D626FC3EDC7}" type="datetime1">
              <a:rPr lang="en-US" smtClean="0"/>
              <a:pPr/>
              <a:t>10/19/2025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7416B92-2D29-4309-8FD4-8EC023BBFD61}" type="datetime1">
              <a:rPr lang="en-US" smtClean="0"/>
              <a:pPr/>
              <a:t>10/19/2025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4BAD-8657-4978-A2B2-B1BBE7089EFE}" type="datetime1">
              <a:rPr lang="en-US" smtClean="0"/>
              <a:pPr/>
              <a:t>10/19/2025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1AF3-EEF6-43B0-9CB4-662539EFD2B2}" type="datetime1">
              <a:rPr lang="en-US" smtClean="0"/>
              <a:pPr/>
              <a:t>10/19/2025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71272FE-5A2D-492A-8166-5DAA8B18B7EA}" type="datetime1">
              <a:rPr lang="en-US" smtClean="0"/>
              <a:pPr/>
              <a:t>10/19/2025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46415B1-2572-4F4E-AFA0-B4063C44FA40}" type="datetime1">
              <a:rPr lang="en-US" smtClean="0"/>
              <a:pPr/>
              <a:t>10/19/2025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saikatbaul@aiub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png"/><Relationship Id="rId4" Type="http://schemas.openxmlformats.org/officeDocument/2006/relationships/hyperlink" Target="https://scholar.google.co.in/citations?user=4oWx7ZcAAAAJ&amp;hl=en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57EE13-72B0-4FFA-ACE1-EBDE89340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A182162-B517-4B41-B039-339F87F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B5AD54-1E68-4239-A6AF-FE0F49BB8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768267" y="1009397"/>
            <a:ext cx="3078342" cy="48014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>
                <a:solidFill>
                  <a:srgbClr val="FFFFFF"/>
                </a:solidFill>
              </a:rPr>
              <a:t>Software engineering (Undergraduate)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71131479-3A67-4241-BA19-63C61B2AD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D71187A8-1267-46DA-BD99-56CA1E3D4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BC2278FC-331B-4EF7-9D0D-AA0D349A2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807A075E-21A0-4954-BEA3-22C78E6FA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0" name="Rectangle 15">
            <a:extLst>
              <a:ext uri="{FF2B5EF4-FFF2-40B4-BE49-F238E27FC236}">
                <a16:creationId xmlns:a16="http://schemas.microsoft.com/office/drawing/2014/main" id="{F58081DC-3CFD-4290-87AE-164515084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F6FC796D-883B-4149-9128-47B4179B3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76B6F65C-6B4A-4901-8A96-CE7330250469}"/>
              </a:ext>
            </a:extLst>
          </p:cNvPr>
          <p:cNvSpPr txBox="1">
            <a:spLocks/>
          </p:cNvSpPr>
          <p:nvPr/>
        </p:nvSpPr>
        <p:spPr>
          <a:xfrm>
            <a:off x="768267" y="1009397"/>
            <a:ext cx="3078342" cy="48014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u="sng" cap="all" dirty="0">
                <a:solidFill>
                  <a:srgbClr val="FFFFFF"/>
                </a:solidFill>
              </a:rPr>
              <a:t>Course Name</a:t>
            </a:r>
            <a:br>
              <a:rPr lang="en-US" sz="2400" cap="all" dirty="0">
                <a:solidFill>
                  <a:srgbClr val="FFFFFF"/>
                </a:solidFill>
              </a:rPr>
            </a:br>
            <a:br>
              <a:rPr lang="en-US" sz="2400" cap="all" dirty="0">
                <a:solidFill>
                  <a:srgbClr val="FFFFFF"/>
                </a:solidFill>
              </a:rPr>
            </a:br>
            <a:r>
              <a:rPr lang="en-US" sz="2400" cap="all" dirty="0">
                <a:solidFill>
                  <a:srgbClr val="FFFFFF"/>
                </a:solidFill>
              </a:rPr>
              <a:t>software engineering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CSC 3114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 (Undergraduate)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0CADBF75-A870-4E01-9DB8-F57472A203D2}"/>
              </a:ext>
            </a:extLst>
          </p:cNvPr>
          <p:cNvSpPr txBox="1">
            <a:spLocks/>
          </p:cNvSpPr>
          <p:nvPr/>
        </p:nvSpPr>
        <p:spPr>
          <a:xfrm>
            <a:off x="4471587" y="1005840"/>
            <a:ext cx="7181903" cy="1383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000">
                <a:solidFill>
                  <a:srgbClr val="C00000"/>
                </a:solidFill>
              </a:rPr>
              <a:t>Chapter 4</a:t>
            </a:r>
            <a:br>
              <a:rPr lang="en-US" sz="3000" dirty="0">
                <a:solidFill>
                  <a:srgbClr val="C00000"/>
                </a:solidFill>
              </a:rPr>
            </a:br>
            <a:br>
              <a:rPr lang="en-US" sz="3000" dirty="0">
                <a:solidFill>
                  <a:schemeClr val="tx2"/>
                </a:solidFill>
              </a:rPr>
            </a:br>
            <a:r>
              <a:rPr lang="en-US" sz="3000" dirty="0">
                <a:solidFill>
                  <a:schemeClr val="tx2"/>
                </a:solidFill>
              </a:rPr>
              <a:t>agile software development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85CC0F6-BD7E-4264-9DDC-E65E61EE7B84}"/>
              </a:ext>
            </a:extLst>
          </p:cNvPr>
          <p:cNvCxnSpPr/>
          <p:nvPr/>
        </p:nvCxnSpPr>
        <p:spPr>
          <a:xfrm>
            <a:off x="4350774" y="796413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9479290A-D19A-522A-007A-4BF6157DE616}"/>
              </a:ext>
            </a:extLst>
          </p:cNvPr>
          <p:cNvGrpSpPr/>
          <p:nvPr/>
        </p:nvGrpSpPr>
        <p:grpSpPr>
          <a:xfrm>
            <a:off x="4471587" y="4672800"/>
            <a:ext cx="7237813" cy="1696591"/>
            <a:chOff x="4471587" y="4672800"/>
            <a:chExt cx="7237813" cy="1696591"/>
          </a:xfrm>
        </p:grpSpPr>
        <p:sp>
          <p:nvSpPr>
            <p:cNvPr id="6" name="Title 1">
              <a:extLst>
                <a:ext uri="{FF2B5EF4-FFF2-40B4-BE49-F238E27FC236}">
                  <a16:creationId xmlns:a16="http://schemas.microsoft.com/office/drawing/2014/main" id="{68087D66-4FEA-1650-7F6A-C3AB12E94FBB}"/>
                </a:ext>
              </a:extLst>
            </p:cNvPr>
            <p:cNvSpPr txBox="1">
              <a:spLocks/>
            </p:cNvSpPr>
            <p:nvPr/>
          </p:nvSpPr>
          <p:spPr>
            <a:xfrm>
              <a:off x="8849074" y="4697932"/>
              <a:ext cx="2860326" cy="164632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l" defTabSz="457200" rtl="0" eaLnBrk="1" latinLnBrk="0" hangingPunct="1">
                <a:spcBef>
                  <a:spcPct val="0"/>
                </a:spcBef>
                <a:buNone/>
                <a:defRPr sz="2800" b="0" kern="1200" cap="all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 algn="r"/>
              <a:r>
                <a:rPr lang="en-US" sz="2400" dirty="0">
                  <a:solidFill>
                    <a:srgbClr val="7030A0"/>
                  </a:solidFill>
                </a:rPr>
                <a:t>Saikat Baul</a:t>
              </a:r>
            </a:p>
            <a:p>
              <a:pPr algn="r"/>
              <a:r>
                <a:rPr lang="en-US" sz="2000" dirty="0">
                  <a:solidFill>
                    <a:schemeClr val="tx1"/>
                  </a:solidFill>
                </a:rPr>
                <a:t>Lecturer, CS,  AIUB</a:t>
              </a:r>
            </a:p>
            <a:p>
              <a:pPr algn="r"/>
              <a:r>
                <a:rPr lang="en-US" sz="2000" cap="none" dirty="0">
                  <a:solidFill>
                    <a:schemeClr val="tx1"/>
                  </a:solidFill>
                  <a:hlinkClick r:id="rId3"/>
                </a:rPr>
                <a:t>saikatbaul@aiub.edu</a:t>
              </a:r>
              <a:r>
                <a:rPr lang="en-US" sz="2000" cap="none" dirty="0">
                  <a:solidFill>
                    <a:schemeClr val="tx1"/>
                  </a:solidFill>
                </a:rPr>
                <a:t> </a:t>
              </a:r>
              <a:endParaRPr lang="en-US" sz="2300" cap="none" dirty="0"/>
            </a:p>
          </p:txBody>
        </p:sp>
        <p:pic>
          <p:nvPicPr>
            <p:cNvPr id="7" name="Picture 2" descr="Google Scholar Logo PNG Vector (AI, PDF ...">
              <a:hlinkClick r:id="rId4"/>
              <a:extLst>
                <a:ext uri="{FF2B5EF4-FFF2-40B4-BE49-F238E27FC236}">
                  <a16:creationId xmlns:a16="http://schemas.microsoft.com/office/drawing/2014/main" id="{FA3550E9-9AD6-6BF7-5CFA-5C67DA8A2E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71587" y="4672800"/>
              <a:ext cx="1696591" cy="16965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176B064-18AC-FFB1-6FE3-DD03C60634A4}"/>
              </a:ext>
            </a:extLst>
          </p:cNvPr>
          <p:cNvCxnSpPr/>
          <p:nvPr/>
        </p:nvCxnSpPr>
        <p:spPr>
          <a:xfrm>
            <a:off x="4377172" y="2794866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4565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AEA6F-6557-2028-7F67-B84EF553A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1A10F-01E2-1781-9B49-36D464B56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 pitchFamily="34" charset="0"/>
              </a:rPr>
              <a:t>What  is  an  agile  method?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CC354-A5FB-5796-91DB-84788870D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29097"/>
            <a:ext cx="10914122" cy="3630024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200" dirty="0">
                <a:latin typeface="+mj-lt"/>
                <a:cs typeface="Calibri" pitchFamily="34" charset="0"/>
              </a:rPr>
              <a:t>Agile methods are considered 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200" dirty="0">
                <a:solidFill>
                  <a:srgbClr val="C00000"/>
                </a:solidFill>
                <a:latin typeface="+mj-lt"/>
                <a:cs typeface="Calibri" pitchFamily="34" charset="0"/>
              </a:rPr>
              <a:t>  Lightweight (do not concentrate on the whole software development at once)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200" dirty="0">
                <a:solidFill>
                  <a:srgbClr val="C00000"/>
                </a:solidFill>
                <a:latin typeface="+mj-lt"/>
                <a:cs typeface="Calibri" pitchFamily="34" charset="0"/>
              </a:rPr>
              <a:t>  People-based rather than Plan-based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200" dirty="0">
                <a:latin typeface="+mj-lt"/>
                <a:cs typeface="Calibri" pitchFamily="34" charset="0"/>
              </a:rPr>
              <a:t>Several agile methods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200" dirty="0">
                <a:latin typeface="+mj-lt"/>
                <a:cs typeface="Calibri" pitchFamily="34" charset="0"/>
              </a:rPr>
              <a:t>  </a:t>
            </a:r>
            <a:r>
              <a:rPr lang="en-US" sz="2200" dirty="0">
                <a:solidFill>
                  <a:srgbClr val="C00000"/>
                </a:solidFill>
                <a:latin typeface="+mj-lt"/>
                <a:cs typeface="Calibri" pitchFamily="34" charset="0"/>
              </a:rPr>
              <a:t>No single agile method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200" dirty="0">
                <a:solidFill>
                  <a:srgbClr val="C00000"/>
                </a:solidFill>
                <a:latin typeface="+mj-lt"/>
                <a:cs typeface="Calibri" pitchFamily="34" charset="0"/>
              </a:rPr>
              <a:t>  Different agile methods can be combined in software development (Hybrid) 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6691B349-AB37-6538-1DC9-CD66C4ECFE7B}"/>
              </a:ext>
            </a:extLst>
          </p:cNvPr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4AD4AF5-6752-2C14-A830-2D9A2840F4AA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810648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Agile 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4884" y="1972492"/>
            <a:ext cx="10914122" cy="4428308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US" sz="2400" dirty="0">
                <a:latin typeface="+mj-lt"/>
                <a:cs typeface="Calibri" pitchFamily="34" charset="0"/>
              </a:rPr>
              <a:t>    </a:t>
            </a:r>
            <a:r>
              <a:rPr lang="en-US" sz="2400" dirty="0">
                <a:solidFill>
                  <a:srgbClr val="C00000"/>
                </a:solidFill>
                <a:latin typeface="+mj-lt"/>
                <a:cs typeface="Calibri" pitchFamily="34" charset="0"/>
              </a:rPr>
              <a:t>“Plan-driven methods work best when developers can determine the requirements in  </a:t>
            </a:r>
            <a:br>
              <a:rPr lang="en-US" sz="2400" dirty="0">
                <a:solidFill>
                  <a:srgbClr val="C00000"/>
                </a:solidFill>
                <a:latin typeface="+mj-lt"/>
                <a:cs typeface="Calibri" pitchFamily="34" charset="0"/>
              </a:rPr>
            </a:br>
            <a:r>
              <a:rPr lang="en-US" sz="2400" dirty="0">
                <a:solidFill>
                  <a:srgbClr val="C00000"/>
                </a:solidFill>
                <a:latin typeface="+mj-lt"/>
                <a:cs typeface="Calibri" pitchFamily="34" charset="0"/>
              </a:rPr>
              <a:t> advance . . . and when the requirements remain relatively stable, with change rates on</a:t>
            </a:r>
            <a:br>
              <a:rPr lang="en-US" sz="2400" dirty="0">
                <a:solidFill>
                  <a:srgbClr val="C00000"/>
                </a:solidFill>
                <a:latin typeface="+mj-lt"/>
                <a:cs typeface="Calibri" pitchFamily="34" charset="0"/>
              </a:rPr>
            </a:br>
            <a:r>
              <a:rPr lang="en-US" sz="2400" dirty="0">
                <a:solidFill>
                  <a:srgbClr val="C00000"/>
                </a:solidFill>
                <a:latin typeface="+mj-lt"/>
                <a:cs typeface="Calibri" pitchFamily="34" charset="0"/>
              </a:rPr>
              <a:t> the order of one percent per month.”</a:t>
            </a:r>
            <a:r>
              <a:rPr lang="en-US" sz="2400" i="1" dirty="0">
                <a:solidFill>
                  <a:srgbClr val="C00000"/>
                </a:solidFill>
                <a:latin typeface="+mj-lt"/>
                <a:cs typeface="Calibri" pitchFamily="34" charset="0"/>
              </a:rPr>
              <a:t>~ Barry Boehm</a:t>
            </a:r>
          </a:p>
          <a:p>
            <a:pPr>
              <a:buNone/>
            </a:pPr>
            <a:endParaRPr lang="en-US" sz="2400" i="1" dirty="0">
              <a:latin typeface="+mj-lt"/>
              <a:cs typeface="Calibri" pitchFamily="34" charset="0"/>
            </a:endParaRP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400" dirty="0">
                <a:latin typeface="+mj-lt"/>
                <a:cs typeface="Calibri" pitchFamily="34" charset="0"/>
              </a:rPr>
              <a:t>Companies need to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400" dirty="0">
                <a:latin typeface="+mj-lt"/>
                <a:cs typeface="Calibri" pitchFamily="34" charset="0"/>
              </a:rPr>
              <a:t>  innovate better and faster operations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400" dirty="0">
                <a:latin typeface="+mj-lt"/>
                <a:cs typeface="Calibri" pitchFamily="34" charset="0"/>
              </a:rPr>
              <a:t>  respond quickly to</a:t>
            </a: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sz="2400" dirty="0">
                <a:solidFill>
                  <a:srgbClr val="C00000"/>
                </a:solidFill>
                <a:latin typeface="+mj-lt"/>
                <a:cs typeface="Calibri" pitchFamily="34" charset="0"/>
              </a:rPr>
              <a:t>  competitive initiatives</a:t>
            </a: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sz="2400" dirty="0">
                <a:solidFill>
                  <a:srgbClr val="C00000"/>
                </a:solidFill>
                <a:latin typeface="+mj-lt"/>
                <a:cs typeface="Calibri" pitchFamily="34" charset="0"/>
              </a:rPr>
              <a:t>  new technology</a:t>
            </a: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sz="2400" dirty="0">
                <a:solidFill>
                  <a:srgbClr val="C00000"/>
                </a:solidFill>
                <a:latin typeface="+mj-lt"/>
                <a:cs typeface="Calibri" pitchFamily="34" charset="0"/>
              </a:rPr>
              <a:t>  customer's requirements</a:t>
            </a:r>
            <a:endParaRPr lang="en-GB" sz="22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Agile 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141" y="2006777"/>
            <a:ext cx="11288036" cy="4246104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200" dirty="0">
                <a:latin typeface="+mj-lt"/>
                <a:cs typeface="Calibri" pitchFamily="34" charset="0"/>
              </a:rPr>
              <a:t>Subset of iterative and evolutionary methods </a:t>
            </a:r>
          </a:p>
          <a:p>
            <a:pPr>
              <a:buNone/>
            </a:pPr>
            <a:r>
              <a:rPr lang="en-US" sz="2200" b="1" u="sng" dirty="0">
                <a:latin typeface="+mj-lt"/>
                <a:cs typeface="Calibri" pitchFamily="34" charset="0"/>
              </a:rPr>
              <a:t>Iterative Products</a:t>
            </a:r>
          </a:p>
          <a:p>
            <a:pPr>
              <a:buFont typeface="Wingdings" pitchFamily="2" charset="2"/>
              <a:buChar char="§"/>
            </a:pPr>
            <a:r>
              <a:rPr lang="en-US" sz="2200" dirty="0">
                <a:latin typeface="+mj-lt"/>
                <a:cs typeface="Calibri" pitchFamily="34" charset="0"/>
              </a:rPr>
              <a:t>Each iteration is a </a:t>
            </a:r>
            <a:r>
              <a:rPr lang="en-US" sz="2200" dirty="0">
                <a:solidFill>
                  <a:srgbClr val="FF0000"/>
                </a:solidFill>
                <a:latin typeface="+mj-lt"/>
                <a:cs typeface="Calibri" pitchFamily="34" charset="0"/>
              </a:rPr>
              <a:t>self-contained, mini-project </a:t>
            </a:r>
            <a:r>
              <a:rPr lang="en-US" sz="2200" dirty="0">
                <a:latin typeface="+mj-lt"/>
                <a:cs typeface="Calibri" pitchFamily="34" charset="0"/>
              </a:rPr>
              <a:t>with activities that span requirements analysis, design, implementation, and test</a:t>
            </a:r>
          </a:p>
          <a:p>
            <a:pPr>
              <a:buFont typeface="Wingdings" pitchFamily="2" charset="2"/>
              <a:buChar char="§"/>
            </a:pPr>
            <a:r>
              <a:rPr lang="en-US" sz="2200" dirty="0">
                <a:latin typeface="+mj-lt"/>
                <a:cs typeface="Calibri" pitchFamily="34" charset="0"/>
              </a:rPr>
              <a:t>Leads to an iteration release (which may be only an </a:t>
            </a:r>
            <a:r>
              <a:rPr lang="en-US" sz="2200" dirty="0">
                <a:solidFill>
                  <a:srgbClr val="FF0000"/>
                </a:solidFill>
                <a:latin typeface="+mj-lt"/>
                <a:cs typeface="Calibri" pitchFamily="34" charset="0"/>
              </a:rPr>
              <a:t>internal release</a:t>
            </a:r>
            <a:r>
              <a:rPr lang="en-US" sz="2200" dirty="0">
                <a:latin typeface="+mj-lt"/>
                <a:cs typeface="Calibri" pitchFamily="34" charset="0"/>
              </a:rPr>
              <a:t>) that integrates all software across the team and is a growing and evolving subset of the final system</a:t>
            </a:r>
          </a:p>
          <a:p>
            <a:pPr>
              <a:buFont typeface="Wingdings" pitchFamily="2" charset="2"/>
              <a:buChar char="§"/>
            </a:pPr>
            <a:r>
              <a:rPr lang="en-US" sz="2200" dirty="0">
                <a:latin typeface="+mj-lt"/>
                <a:cs typeface="Calibri" pitchFamily="34" charset="0"/>
              </a:rPr>
              <a:t>The purpose of having short iterations is so that feedback from iterations N and earlier, </a:t>
            </a:r>
            <a:br>
              <a:rPr lang="en-US" sz="2200" dirty="0">
                <a:latin typeface="+mj-lt"/>
                <a:cs typeface="Calibri" pitchFamily="34" charset="0"/>
              </a:rPr>
            </a:br>
            <a:r>
              <a:rPr lang="en-US" sz="2200" dirty="0">
                <a:latin typeface="+mj-lt"/>
                <a:cs typeface="Calibri" pitchFamily="34" charset="0"/>
              </a:rPr>
              <a:t>and any other new information, can </a:t>
            </a:r>
            <a:r>
              <a:rPr lang="en-US" sz="2200" dirty="0">
                <a:solidFill>
                  <a:srgbClr val="FF0000"/>
                </a:solidFill>
                <a:latin typeface="+mj-lt"/>
                <a:cs typeface="Calibri" pitchFamily="34" charset="0"/>
              </a:rPr>
              <a:t>lead to refinement </a:t>
            </a:r>
            <a:r>
              <a:rPr lang="en-US" sz="2200" dirty="0">
                <a:latin typeface="+mj-lt"/>
                <a:cs typeface="Calibri" pitchFamily="34" charset="0"/>
              </a:rPr>
              <a:t>and requirements adaptation for iteration N + 1</a:t>
            </a:r>
            <a:endParaRPr lang="en-GB" sz="22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2BEDC39-C1E3-7B8C-2792-255706C16BD8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291408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1" name="Rectangle 2060">
            <a:extLst>
              <a:ext uri="{FF2B5EF4-FFF2-40B4-BE49-F238E27FC236}">
                <a16:creationId xmlns:a16="http://schemas.microsoft.com/office/drawing/2014/main" id="{1E5E4503-CC62-4DA9-9121-0A1571998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D8D61A1B-3C4C-4F0E-965F-15837624C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65" name="Rectangle 2064">
            <a:extLst>
              <a:ext uri="{FF2B5EF4-FFF2-40B4-BE49-F238E27FC236}">
                <a16:creationId xmlns:a16="http://schemas.microsoft.com/office/drawing/2014/main" id="{00E56243-9701-44E8-8A92-3194333051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67" name="Rectangle 2066">
            <a:extLst>
              <a:ext uri="{FF2B5EF4-FFF2-40B4-BE49-F238E27FC236}">
                <a16:creationId xmlns:a16="http://schemas.microsoft.com/office/drawing/2014/main" id="{5B1F1915-E076-48EB-BB4A-EE9808EB40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069" name="Rectangle 2068">
            <a:extLst>
              <a:ext uri="{FF2B5EF4-FFF2-40B4-BE49-F238E27FC236}">
                <a16:creationId xmlns:a16="http://schemas.microsoft.com/office/drawing/2014/main" id="{C946306D-5ADD-463A-949A-DEEBA39D70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6" name="Picture 8" descr="What are Evolutionary Process Models? - GeeksforGeeks">
            <a:extLst>
              <a:ext uri="{FF2B5EF4-FFF2-40B4-BE49-F238E27FC236}">
                <a16:creationId xmlns:a16="http://schemas.microsoft.com/office/drawing/2014/main" id="{B8453481-5DB0-C574-A593-99A7D10736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2" r="1" b="1"/>
          <a:stretch>
            <a:fillRect/>
          </a:stretch>
        </p:blipFill>
        <p:spPr bwMode="auto">
          <a:xfrm>
            <a:off x="446534" y="599724"/>
            <a:ext cx="5614416" cy="3547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Iterative Development: A Starter's Guide">
            <a:extLst>
              <a:ext uri="{FF2B5EF4-FFF2-40B4-BE49-F238E27FC236}">
                <a16:creationId xmlns:a16="http://schemas.microsoft.com/office/drawing/2014/main" id="{F0D47766-450C-7821-6D98-511CEAFEFE5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50" r="3" b="7979"/>
          <a:stretch>
            <a:fillRect/>
          </a:stretch>
        </p:blipFill>
        <p:spPr bwMode="auto">
          <a:xfrm>
            <a:off x="6116658" y="599724"/>
            <a:ext cx="5626608" cy="3547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71" name="Rectangle 2070">
            <a:extLst>
              <a:ext uri="{FF2B5EF4-FFF2-40B4-BE49-F238E27FC236}">
                <a16:creationId xmlns:a16="http://schemas.microsoft.com/office/drawing/2014/main" id="{9180D5DB-9658-40A6-A418-7C6998222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4199467"/>
            <a:ext cx="11296733" cy="21910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FAA875-7D2C-82DC-3D1C-ABB68181E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120" y="4319752"/>
            <a:ext cx="10947620" cy="115595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Evolutionary + Iterative Model = Agile</a:t>
            </a:r>
          </a:p>
        </p:txBody>
      </p:sp>
      <p:grpSp>
        <p:nvGrpSpPr>
          <p:cNvPr id="2073" name="Group 2072">
            <a:extLst>
              <a:ext uri="{FF2B5EF4-FFF2-40B4-BE49-F238E27FC236}">
                <a16:creationId xmlns:a16="http://schemas.microsoft.com/office/drawing/2014/main" id="{632810AB-1783-4EC2-BA98-A04B50D038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2074" name="Rectangle 2073">
              <a:extLst>
                <a:ext uri="{FF2B5EF4-FFF2-40B4-BE49-F238E27FC236}">
                  <a16:creationId xmlns:a16="http://schemas.microsoft.com/office/drawing/2014/main" id="{4F09CE43-7546-451A-9418-9977AE7317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75" name="Rectangle 2074">
              <a:extLst>
                <a:ext uri="{FF2B5EF4-FFF2-40B4-BE49-F238E27FC236}">
                  <a16:creationId xmlns:a16="http://schemas.microsoft.com/office/drawing/2014/main" id="{92C17367-5B48-4C71-825E-C1A8CFEC89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76" name="Rectangle 2075">
              <a:extLst>
                <a:ext uri="{FF2B5EF4-FFF2-40B4-BE49-F238E27FC236}">
                  <a16:creationId xmlns:a16="http://schemas.microsoft.com/office/drawing/2014/main" id="{86EA071A-7654-4C9E-AA2E-203E152346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EF0B71-DBB6-AEA1-CD51-7EFC006B0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28232"/>
            <a:ext cx="101644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D57F1E4F-1CFF-5643-939E-217C01CDF565}" type="slidenum">
              <a:rPr lang="en-US" smtClean="0">
                <a:solidFill>
                  <a:schemeClr val="accent1">
                    <a:lumMod val="75000"/>
                    <a:lumOff val="25000"/>
                  </a:schemeClr>
                </a:solidFill>
              </a:rPr>
              <a:pPr defTabSz="914400">
                <a:spcAft>
                  <a:spcPts val="600"/>
                </a:spcAft>
              </a:pPr>
              <a:t>5</a:t>
            </a:fld>
            <a:endParaRPr lang="en-US">
              <a:solidFill>
                <a:schemeClr val="accent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897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 pitchFamily="34" charset="0"/>
              </a:rPr>
              <a:t>Agile  methods  vs.  Past  Iterative  methods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8939" y="2275207"/>
            <a:ext cx="10914122" cy="3396723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buFont typeface="Wingdings" pitchFamily="2" charset="2"/>
              <a:buChar char="q"/>
            </a:pPr>
            <a:r>
              <a:rPr lang="en-US" sz="2200" dirty="0">
                <a:latin typeface="+mj-lt"/>
                <a:cs typeface="Calibri" pitchFamily="34" charset="0"/>
              </a:rPr>
              <a:t> A key difference between agile methods and past iterative methods is the length of each  </a:t>
            </a:r>
            <a:br>
              <a:rPr lang="en-US" sz="2200" dirty="0">
                <a:latin typeface="+mj-lt"/>
                <a:cs typeface="Calibri" pitchFamily="34" charset="0"/>
              </a:rPr>
            </a:br>
            <a:r>
              <a:rPr lang="en-US" sz="2200" dirty="0">
                <a:latin typeface="+mj-lt"/>
                <a:cs typeface="Calibri" pitchFamily="34" charset="0"/>
              </a:rPr>
              <a:t> iteration.</a:t>
            </a:r>
            <a:br>
              <a:rPr lang="en-US" sz="2200" dirty="0">
                <a:latin typeface="+mj-lt"/>
                <a:cs typeface="Calibri" pitchFamily="34" charset="0"/>
              </a:rPr>
            </a:br>
            <a:endParaRPr lang="en-US" sz="2200" dirty="0">
              <a:latin typeface="+mj-lt"/>
              <a:cs typeface="Calibri" pitchFamily="34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Char char="§"/>
            </a:pPr>
            <a:r>
              <a:rPr lang="en-US" sz="2200" dirty="0">
                <a:solidFill>
                  <a:srgbClr val="C00000"/>
                </a:solidFill>
                <a:latin typeface="+mj-lt"/>
                <a:cs typeface="Calibri" pitchFamily="34" charset="0"/>
              </a:rPr>
              <a:t>In the past, iterations might have been three or six months long.</a:t>
            </a:r>
          </a:p>
          <a:p>
            <a:pPr>
              <a:lnSpc>
                <a:spcPct val="80000"/>
              </a:lnSpc>
              <a:buFont typeface="Wingdings" pitchFamily="2" charset="2"/>
              <a:buChar char="§"/>
            </a:pPr>
            <a:r>
              <a:rPr lang="en-US" sz="2200" dirty="0">
                <a:solidFill>
                  <a:srgbClr val="C00000"/>
                </a:solidFill>
                <a:latin typeface="+mj-lt"/>
                <a:cs typeface="Calibri" pitchFamily="34" charset="0"/>
              </a:rPr>
              <a:t>In agile methods, iteration lengths vary between one to four weeks and intentionally</a:t>
            </a:r>
            <a:br>
              <a:rPr lang="en-US" sz="2200" dirty="0">
                <a:solidFill>
                  <a:srgbClr val="C00000"/>
                </a:solidFill>
                <a:latin typeface="+mj-lt"/>
                <a:cs typeface="Calibri" pitchFamily="34" charset="0"/>
              </a:rPr>
            </a:br>
            <a:r>
              <a:rPr lang="en-US" sz="2200" dirty="0">
                <a:solidFill>
                  <a:srgbClr val="C00000"/>
                </a:solidFill>
                <a:latin typeface="+mj-lt"/>
                <a:cs typeface="Calibri" pitchFamily="34" charset="0"/>
              </a:rPr>
              <a:t>do not exceed 30 days.</a:t>
            </a:r>
          </a:p>
          <a:p>
            <a:pPr>
              <a:lnSpc>
                <a:spcPct val="80000"/>
              </a:lnSpc>
              <a:buFont typeface="Wingdings" pitchFamily="2" charset="2"/>
              <a:buChar char="§"/>
            </a:pPr>
            <a:r>
              <a:rPr lang="en-US" sz="2200" dirty="0">
                <a:solidFill>
                  <a:srgbClr val="C00000"/>
                </a:solidFill>
                <a:latin typeface="+mj-lt"/>
                <a:cs typeface="Calibri" pitchFamily="34" charset="0"/>
              </a:rPr>
              <a:t>Research has shown that shorter iterations have lower complexity and risk, better   feedback, and higher productivity and success rates.</a:t>
            </a:r>
          </a:p>
          <a:p>
            <a:pPr>
              <a:buFont typeface="Wingdings" pitchFamily="2" charset="2"/>
              <a:buChar char="q"/>
            </a:pPr>
            <a:endParaRPr lang="en-GB" sz="22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07B2D7A-CBEE-25EB-3781-0D99501FC71C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572633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cs typeface="Calibri" pitchFamily="34" charset="0"/>
              </a:rPr>
              <a:t>Timebox</a:t>
            </a:r>
            <a:r>
              <a:rPr lang="en-US" dirty="0">
                <a:cs typeface="Calibri" pitchFamily="34" charset="0"/>
              </a:rPr>
              <a:t>  &amp;  scope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9569" y="2116182"/>
            <a:ext cx="10914122" cy="2416629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200" dirty="0">
                <a:latin typeface="+mj-lt"/>
                <a:cs typeface="Calibri" pitchFamily="34" charset="0"/>
              </a:rPr>
              <a:t> The pre-determined iteration length serves as a </a:t>
            </a:r>
            <a:r>
              <a:rPr lang="en-US" sz="2200" dirty="0" err="1">
                <a:latin typeface="+mj-lt"/>
                <a:cs typeface="Calibri" pitchFamily="34" charset="0"/>
              </a:rPr>
              <a:t>timebox</a:t>
            </a:r>
            <a:r>
              <a:rPr lang="en-US" sz="2200" dirty="0">
                <a:latin typeface="+mj-lt"/>
                <a:cs typeface="Calibri" pitchFamily="34" charset="0"/>
              </a:rPr>
              <a:t> for the team. </a:t>
            </a:r>
          </a:p>
          <a:p>
            <a:pPr>
              <a:buFont typeface="Wingdings" pitchFamily="2" charset="2"/>
              <a:buChar char="q"/>
            </a:pPr>
            <a:r>
              <a:rPr lang="en-US" sz="2200" dirty="0">
                <a:latin typeface="+mj-lt"/>
                <a:cs typeface="Calibri" pitchFamily="34" charset="0"/>
              </a:rPr>
              <a:t> Scope (set of tasks) is chosen for each iteration to fill the iteration length. </a:t>
            </a:r>
          </a:p>
          <a:p>
            <a:pPr>
              <a:buFont typeface="Wingdings" pitchFamily="2" charset="2"/>
              <a:buChar char="q"/>
            </a:pPr>
            <a:r>
              <a:rPr lang="en-US" sz="2200" dirty="0">
                <a:solidFill>
                  <a:srgbClr val="FF0000"/>
                </a:solidFill>
                <a:latin typeface="+mj-lt"/>
                <a:cs typeface="Calibri" pitchFamily="34" charset="0"/>
              </a:rPr>
              <a:t> Rather than increase the iteration length to fit the chosen scope, </a:t>
            </a:r>
            <a:br>
              <a:rPr lang="en-US" sz="2200" dirty="0">
                <a:solidFill>
                  <a:srgbClr val="FF0000"/>
                </a:solidFill>
                <a:latin typeface="+mj-lt"/>
                <a:cs typeface="Calibri" pitchFamily="34" charset="0"/>
              </a:rPr>
            </a:br>
            <a:r>
              <a:rPr lang="en-US" sz="2200" dirty="0">
                <a:solidFill>
                  <a:srgbClr val="FF0000"/>
                </a:solidFill>
                <a:latin typeface="+mj-lt"/>
                <a:cs typeface="Calibri" pitchFamily="34" charset="0"/>
              </a:rPr>
              <a:t> the scope is reduced to fit the iteration length.</a:t>
            </a:r>
          </a:p>
          <a:p>
            <a:pPr>
              <a:lnSpc>
                <a:spcPct val="80000"/>
              </a:lnSpc>
              <a:buFont typeface="Wingdings" pitchFamily="2" charset="2"/>
              <a:buChar char="q"/>
            </a:pPr>
            <a:endParaRPr lang="en-GB" sz="22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3510ABD-DB0E-DF52-07EB-740E2D14E3EC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180374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 pitchFamily="34" charset="0"/>
              </a:rPr>
              <a:t>Agile  vs.  Plan  driven  process</a:t>
            </a:r>
            <a:endParaRPr lang="en-GB" dirty="0"/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51652" cy="988551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6609" y="2102394"/>
          <a:ext cx="10665824" cy="40756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29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2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405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lt"/>
                        </a:rPr>
                        <a:t>Agile Process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lt"/>
                        </a:rPr>
                        <a:t>Plan Driven Process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839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j-lt"/>
                          <a:cs typeface="Calibri" pitchFamily="34" charset="0"/>
                        </a:rPr>
                        <a:t>Small products and teams; scalability limited</a:t>
                      </a:r>
                      <a:endParaRPr lang="en-US" sz="2000" b="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j-lt"/>
                          <a:cs typeface="Calibri" pitchFamily="34" charset="0"/>
                        </a:rPr>
                        <a:t>Large products and teams; hard to scale down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839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latin typeface="+mj-lt"/>
                          <a:cs typeface="Calibri" pitchFamily="34" charset="0"/>
                        </a:rPr>
                        <a:t>Inappropriate</a:t>
                      </a:r>
                      <a:r>
                        <a:rPr lang="en-US" sz="2000" b="0" baseline="0" dirty="0">
                          <a:latin typeface="+mj-lt"/>
                          <a:cs typeface="Calibri" pitchFamily="34" charset="0"/>
                        </a:rPr>
                        <a:t> for </a:t>
                      </a:r>
                      <a:r>
                        <a:rPr lang="en-US" sz="2000" b="0" dirty="0">
                          <a:latin typeface="+mj-lt"/>
                          <a:cs typeface="Calibri" pitchFamily="34" charset="0"/>
                        </a:rPr>
                        <a:t>safety-critical products because of frequent changes</a:t>
                      </a:r>
                      <a:endParaRPr lang="en-US" sz="2000" b="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latin typeface="+mj-lt"/>
                          <a:cs typeface="Calibri" pitchFamily="34" charset="0"/>
                        </a:rPr>
                        <a:t>Handles highly critical products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839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latin typeface="+mj-lt"/>
                          <a:cs typeface="Calibri" pitchFamily="34" charset="0"/>
                        </a:rPr>
                        <a:t>Good for dynamic, but expensive for stable environments.</a:t>
                      </a:r>
                      <a:endParaRPr lang="en-US" sz="2000" b="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latin typeface="+mj-lt"/>
                          <a:cs typeface="Calibri" pitchFamily="34" charset="0"/>
                        </a:rPr>
                        <a:t>Good for stable, but expensive for dynamic environments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839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latin typeface="+mj-lt"/>
                          <a:cs typeface="Calibri" pitchFamily="34" charset="0"/>
                        </a:rPr>
                        <a:t>Require experienced Agile personnel throughout</a:t>
                      </a:r>
                      <a:endParaRPr lang="en-US" sz="2000" b="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latin typeface="+mj-lt"/>
                          <a:cs typeface="Calibri" pitchFamily="34" charset="0"/>
                        </a:rPr>
                        <a:t>Require experienced personnel only at start if stable environment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799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latin typeface="+mj-lt"/>
                          <a:cs typeface="Calibri" pitchFamily="34" charset="0"/>
                        </a:rPr>
                        <a:t>Personnel succeed on freedom and chaos</a:t>
                      </a:r>
                      <a:endParaRPr lang="en-US" sz="2000" b="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latin typeface="+mj-lt"/>
                          <a:cs typeface="Calibri" pitchFamily="34" charset="0"/>
                        </a:rPr>
                        <a:t>Personnel succeed on structure and order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75998-0B41-0AE9-551D-D54E5715142B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527609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 pitchFamily="34" charset="0"/>
              </a:rPr>
              <a:t>Agile  assumption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4884" y="2050868"/>
            <a:ext cx="10914122" cy="4441372"/>
          </a:xfrm>
        </p:spPr>
        <p:txBody>
          <a:bodyPr>
            <a:noAutofit/>
          </a:bodyPr>
          <a:lstStyle/>
          <a:p>
            <a:pPr marL="90488">
              <a:lnSpc>
                <a:spcPct val="90000"/>
              </a:lnSpc>
              <a:buFont typeface="Wingdings" pitchFamily="2" charset="2"/>
              <a:buChar char="q"/>
            </a:pPr>
            <a:r>
              <a:rPr lang="en-US" sz="2200" dirty="0">
                <a:latin typeface="+mj-lt"/>
              </a:rPr>
              <a:t>It is difficult to predict in advance which software </a:t>
            </a:r>
          </a:p>
          <a:p>
            <a:pPr marL="414488" lvl="1">
              <a:lnSpc>
                <a:spcPct val="90000"/>
              </a:lnSpc>
            </a:pPr>
            <a:r>
              <a:rPr lang="en-US" sz="2200" dirty="0">
                <a:solidFill>
                  <a:srgbClr val="C00000"/>
                </a:solidFill>
                <a:latin typeface="+mj-lt"/>
              </a:rPr>
              <a:t>requirements will persist and which will change</a:t>
            </a:r>
          </a:p>
          <a:p>
            <a:pPr marL="414488" lvl="1">
              <a:lnSpc>
                <a:spcPct val="90000"/>
              </a:lnSpc>
            </a:pPr>
            <a:r>
              <a:rPr lang="en-US" sz="2200" dirty="0">
                <a:solidFill>
                  <a:srgbClr val="C00000"/>
                </a:solidFill>
                <a:latin typeface="+mj-lt"/>
              </a:rPr>
              <a:t>It is equally difficult to predict how customer priorities will change as the project proceeds</a:t>
            </a:r>
          </a:p>
          <a:p>
            <a:pPr marL="90488">
              <a:lnSpc>
                <a:spcPct val="90000"/>
              </a:lnSpc>
            </a:pPr>
            <a:endParaRPr lang="en-US" sz="2200" dirty="0">
              <a:latin typeface="+mj-lt"/>
            </a:endParaRPr>
          </a:p>
          <a:p>
            <a:pPr marL="90488">
              <a:lnSpc>
                <a:spcPct val="90000"/>
              </a:lnSpc>
              <a:buFont typeface="Wingdings" pitchFamily="2" charset="2"/>
              <a:buChar char="q"/>
            </a:pPr>
            <a:r>
              <a:rPr lang="en-US" sz="2200" dirty="0"/>
              <a:t>Design and construction are interleaved in</a:t>
            </a:r>
            <a:r>
              <a:rPr lang="en-US" sz="2200" dirty="0">
                <a:latin typeface="+mj-lt"/>
              </a:rPr>
              <a:t> many types of software. That is, both activities </a:t>
            </a:r>
            <a:br>
              <a:rPr lang="en-US" sz="2200" dirty="0">
                <a:latin typeface="+mj-lt"/>
              </a:rPr>
            </a:br>
            <a:r>
              <a:rPr lang="en-US" sz="2200" dirty="0">
                <a:latin typeface="+mj-lt"/>
              </a:rPr>
              <a:t>   should be performed tightly so that design models are proven as they are created. It is </a:t>
            </a:r>
            <a:br>
              <a:rPr lang="en-US" sz="2200" dirty="0">
                <a:latin typeface="+mj-lt"/>
              </a:rPr>
            </a:br>
            <a:r>
              <a:rPr lang="en-US" sz="2200" dirty="0">
                <a:latin typeface="+mj-lt"/>
              </a:rPr>
              <a:t>   difficult to predict how much design is necessary before construction is used to prove the </a:t>
            </a:r>
            <a:br>
              <a:rPr lang="en-US" sz="2200" dirty="0">
                <a:latin typeface="+mj-lt"/>
              </a:rPr>
            </a:br>
            <a:r>
              <a:rPr lang="en-US" sz="2200" dirty="0">
                <a:latin typeface="+mj-lt"/>
              </a:rPr>
              <a:t>   design.</a:t>
            </a:r>
          </a:p>
          <a:p>
            <a:pPr marL="90488">
              <a:lnSpc>
                <a:spcPct val="90000"/>
              </a:lnSpc>
              <a:buFont typeface="Wingdings" pitchFamily="2" charset="2"/>
              <a:buChar char="q"/>
            </a:pPr>
            <a:r>
              <a:rPr lang="en-US" sz="2200" dirty="0">
                <a:latin typeface="+mj-lt"/>
              </a:rPr>
              <a:t>Analysis, design, construction, and testing are not as predictable (from a planning point of </a:t>
            </a:r>
            <a:br>
              <a:rPr lang="en-US" sz="2200" dirty="0">
                <a:latin typeface="+mj-lt"/>
              </a:rPr>
            </a:br>
            <a:r>
              <a:rPr lang="en-US" sz="2200" dirty="0">
                <a:latin typeface="+mj-lt"/>
              </a:rPr>
              <a:t>   view) as we might like.</a:t>
            </a:r>
            <a:endParaRPr lang="en-US" sz="2200" dirty="0">
              <a:solidFill>
                <a:srgbClr val="002060"/>
              </a:solidFill>
              <a:latin typeface="+mj-lt"/>
              <a:cs typeface="Calibri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12463" cy="1158367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CE0013D-DEDE-2C8C-836B-C2523BE1D182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24935678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 pitchFamily="34" charset="0"/>
              </a:rPr>
              <a:t>Human  factors  in  agile  development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696" y="1985555"/>
            <a:ext cx="10914122" cy="3526971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  Skill / Capability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  Common focus 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  Collaboration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  Decision-making ability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  Fuzzy problem-solving ability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  Mutual trust and respect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  Self-organization</a:t>
            </a:r>
            <a:endParaRPr lang="en-US" sz="2000" dirty="0">
              <a:solidFill>
                <a:srgbClr val="002060"/>
              </a:solidFill>
              <a:latin typeface="+mj-lt"/>
              <a:cs typeface="Calibri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12463" cy="1158367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CC1759B-8ED8-6864-1BA5-3B0DC0869E24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2349574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 pitchFamily="34" charset="0"/>
              </a:rPr>
              <a:t>Agile  methods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696" y="1985555"/>
            <a:ext cx="10914122" cy="3526971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000" dirty="0">
                <a:highlight>
                  <a:srgbClr val="00FFFF"/>
                </a:highlight>
                <a:latin typeface="+mj-lt"/>
                <a:cs typeface="Calibri" pitchFamily="34" charset="0"/>
              </a:rPr>
              <a:t> Extreme Programming (XP)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000" dirty="0">
                <a:highlight>
                  <a:srgbClr val="00FFFF"/>
                </a:highlight>
                <a:latin typeface="+mj-lt"/>
                <a:cs typeface="Calibri" pitchFamily="34" charset="0"/>
              </a:rPr>
              <a:t> Scrum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000" dirty="0">
                <a:highlight>
                  <a:srgbClr val="00FFFF"/>
                </a:highlight>
                <a:latin typeface="+mj-lt"/>
                <a:cs typeface="Calibri" pitchFamily="34" charset="0"/>
              </a:rPr>
              <a:t> Dynamic Systems Development Method (DSDM)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000" dirty="0">
                <a:highlight>
                  <a:srgbClr val="00FFFF"/>
                </a:highlight>
                <a:latin typeface="+mj-lt"/>
                <a:cs typeface="Calibri" pitchFamily="34" charset="0"/>
              </a:rPr>
              <a:t> Feature-Driven Development (FDD)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000" dirty="0">
                <a:latin typeface="+mj-lt"/>
                <a:cs typeface="Calibri" pitchFamily="34" charset="0"/>
              </a:rPr>
              <a:t> Crystal Methods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000" dirty="0">
                <a:latin typeface="+mj-lt"/>
                <a:cs typeface="Calibri" pitchFamily="34" charset="0"/>
              </a:rPr>
              <a:t> Lean Development (LD)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000" dirty="0">
                <a:latin typeface="+mj-lt"/>
                <a:cs typeface="Calibri" pitchFamily="34" charset="0"/>
              </a:rPr>
              <a:t> Adaptive Software Development (ASD)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12463" cy="1158367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30E328A-3046-A1A4-6F7F-41053FB04F30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6659486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200" y="2063932"/>
            <a:ext cx="10953310" cy="262563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000" dirty="0">
                <a:ea typeface="ＭＳ Ｐゴシック" pitchFamily="34" charset="-128"/>
              </a:rPr>
              <a:t>R.S. Pressman &amp; Associates, Inc. (2010). </a:t>
            </a:r>
            <a:r>
              <a:rPr lang="en-US" sz="2000" i="1" dirty="0">
                <a:ea typeface="ＭＳ Ｐゴシック" pitchFamily="34" charset="-128"/>
              </a:rPr>
              <a:t>Software Engineering: A Practitioner’s Approach.</a:t>
            </a:r>
          </a:p>
          <a:p>
            <a:pPr>
              <a:defRPr/>
            </a:pPr>
            <a:r>
              <a:rPr lang="en-US" sz="2000" dirty="0"/>
              <a:t>Kelly, J. C., </a:t>
            </a:r>
            <a:r>
              <a:rPr lang="en-US" sz="2000" dirty="0" err="1"/>
              <a:t>Sherif</a:t>
            </a:r>
            <a:r>
              <a:rPr lang="en-US" sz="2000" dirty="0"/>
              <a:t>, J. S., &amp; Hops, J. (1992). An analysis of defect densities found during software inspections. </a:t>
            </a:r>
            <a:r>
              <a:rPr lang="en-US" sz="2000" i="1" dirty="0"/>
              <a:t>Journal of Systems and Software</a:t>
            </a:r>
            <a:r>
              <a:rPr lang="en-US" sz="2000" dirty="0"/>
              <a:t>, </a:t>
            </a:r>
            <a:r>
              <a:rPr lang="en-US" sz="2000" i="1" dirty="0"/>
              <a:t>17</a:t>
            </a:r>
            <a:r>
              <a:rPr lang="en-US" sz="2000" dirty="0"/>
              <a:t>(2), 111-117.</a:t>
            </a:r>
          </a:p>
          <a:p>
            <a:pPr>
              <a:defRPr/>
            </a:pPr>
            <a:r>
              <a:rPr lang="en-US" sz="2000" dirty="0"/>
              <a:t>Bhandari, I., Halliday, M. J., </a:t>
            </a:r>
            <a:r>
              <a:rPr lang="en-US" sz="2000" dirty="0" err="1"/>
              <a:t>Chaar</a:t>
            </a:r>
            <a:r>
              <a:rPr lang="en-US" sz="2000" dirty="0"/>
              <a:t>, J., </a:t>
            </a:r>
            <a:r>
              <a:rPr lang="en-US" sz="2000" dirty="0" err="1"/>
              <a:t>Chillarege</a:t>
            </a:r>
            <a:r>
              <a:rPr lang="en-US" sz="2000" dirty="0"/>
              <a:t>, R., Jones, K., Atkinson, J. S., &amp; </a:t>
            </a:r>
            <a:r>
              <a:rPr lang="en-US" sz="2000" dirty="0" err="1"/>
              <a:t>Yonezawa</a:t>
            </a:r>
            <a:r>
              <a:rPr lang="en-US" sz="2000" dirty="0"/>
              <a:t>, M. (1994).</a:t>
            </a:r>
            <a:br>
              <a:rPr lang="en-US" sz="2000" dirty="0"/>
            </a:br>
            <a:r>
              <a:rPr lang="en-US" sz="2000" dirty="0"/>
              <a:t>In-process improvement through defect data interpretation. </a:t>
            </a:r>
            <a:r>
              <a:rPr lang="en-US" sz="2000" i="1" dirty="0"/>
              <a:t>IBM Systems Journal</a:t>
            </a:r>
            <a:r>
              <a:rPr lang="en-US" sz="2000" dirty="0"/>
              <a:t>, </a:t>
            </a:r>
            <a:r>
              <a:rPr lang="en-US" sz="2000" i="1" dirty="0"/>
              <a:t>33</a:t>
            </a:r>
            <a:r>
              <a:rPr lang="en-US" sz="2000" dirty="0"/>
              <a:t>(1), 182-214.</a:t>
            </a:r>
            <a:endParaRPr lang="en-US" sz="2000" dirty="0">
              <a:ea typeface="ＭＳ Ｐゴシック" pitchFamily="34" charset="-128"/>
            </a:endParaRPr>
          </a:p>
          <a:p>
            <a:pPr>
              <a:defRPr/>
            </a:pPr>
            <a:endParaRPr lang="en-US" altLang="zh-TW" sz="20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- 15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28DA654-9A91-4CCA-8E45-E5168893F26E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6403923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99E5A6124B89544BE241051D903E6FA" ma:contentTypeVersion="3" ma:contentTypeDescription="Create a new document." ma:contentTypeScope="" ma:versionID="49103e8de7a8c7cd036714da0db0fbfd">
  <xsd:schema xmlns:xsd="http://www.w3.org/2001/XMLSchema" xmlns:xs="http://www.w3.org/2001/XMLSchema" xmlns:p="http://schemas.microsoft.com/office/2006/metadata/properties" xmlns:ns2="ba2972b8-b5ba-4e3a-b817-e1c050422641" targetNamespace="http://schemas.microsoft.com/office/2006/metadata/properties" ma:root="true" ma:fieldsID="d94ac3fbc6208c0ca1f40125aee3feeb" ns2:_="">
    <xsd:import namespace="ba2972b8-b5ba-4e3a-b817-e1c05042264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2972b8-b5ba-4e3a-b817-e1c05042264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AC211D2-CCA5-41D8-9BDB-32E53DAD72FA}"/>
</file>

<file path=customXml/itemProps2.xml><?xml version="1.0" encoding="utf-8"?>
<ds:datastoreItem xmlns:ds="http://schemas.openxmlformats.org/officeDocument/2006/customXml" ds:itemID="{FD5A49BA-4363-4593-BA51-2332BBB55C4E}"/>
</file>

<file path=customXml/itemProps3.xml><?xml version="1.0" encoding="utf-8"?>
<ds:datastoreItem xmlns:ds="http://schemas.openxmlformats.org/officeDocument/2006/customXml" ds:itemID="{F9A6A3BA-8B3F-4E43-8507-A2B777ED2809}"/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805</Words>
  <Application>Microsoft Office PowerPoint</Application>
  <PresentationFormat>Widescreen</PresentationFormat>
  <Paragraphs>102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ＭＳ Ｐゴシック</vt:lpstr>
      <vt:lpstr>Calibri</vt:lpstr>
      <vt:lpstr>Gill Sans MT</vt:lpstr>
      <vt:lpstr>Wingdings</vt:lpstr>
      <vt:lpstr>Wingdings 2</vt:lpstr>
      <vt:lpstr>Dividend</vt:lpstr>
      <vt:lpstr>PowerPoint Presentation</vt:lpstr>
      <vt:lpstr>What  is  an  agile  method?</vt:lpstr>
      <vt:lpstr>Agile  development</vt:lpstr>
      <vt:lpstr>Agile  Model</vt:lpstr>
      <vt:lpstr>Evolutionary + Iterative Model = Agile</vt:lpstr>
      <vt:lpstr>Agile  methods  vs.  Past  Iterative  methods</vt:lpstr>
      <vt:lpstr>Timebox  &amp;  scope</vt:lpstr>
      <vt:lpstr>Agile  vs.  Plan  driven  process</vt:lpstr>
      <vt:lpstr>Agile  assumption</vt:lpstr>
      <vt:lpstr>Human  factors  in  agile  development</vt:lpstr>
      <vt:lpstr>Agile  methods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- Ch.03 - Agile Software Development</dc:title>
  <dc:subject>Software Engineering</dc:subject>
  <dc:creator>M. Mahmudul Hasan</dc:creator>
  <cp:lastModifiedBy>Saikat Baul</cp:lastModifiedBy>
  <cp:revision>35</cp:revision>
  <dcterms:created xsi:type="dcterms:W3CDTF">2019-05-13T08:37:20Z</dcterms:created>
  <dcterms:modified xsi:type="dcterms:W3CDTF">2025-10-19T11:02:53Z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0x010100299E5A6124B89544BE241051D903E6FA</vt:lpwstr>
  </property>
</Properties>
</file>